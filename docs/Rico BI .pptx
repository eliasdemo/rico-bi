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0" r:id="rId3"/>
    <p:sldId id="258" r:id="rId4"/>
    <p:sldId id="259" r:id="rId5"/>
    <p:sldId id="265" r:id="rId6"/>
    <p:sldId id="295" r:id="rId7"/>
    <p:sldId id="294" r:id="rId8"/>
    <p:sldId id="293" r:id="rId9"/>
    <p:sldId id="281" r:id="rId10"/>
    <p:sldId id="284" r:id="rId11"/>
    <p:sldId id="282" r:id="rId12"/>
    <p:sldId id="261" r:id="rId13"/>
    <p:sldId id="262" r:id="rId14"/>
    <p:sldId id="285" r:id="rId15"/>
    <p:sldId id="263" r:id="rId16"/>
    <p:sldId id="286" r:id="rId17"/>
    <p:sldId id="264" r:id="rId18"/>
    <p:sldId id="287" r:id="rId19"/>
    <p:sldId id="288" r:id="rId20"/>
    <p:sldId id="289" r:id="rId21"/>
    <p:sldId id="290" r:id="rId22"/>
    <p:sldId id="291" r:id="rId23"/>
    <p:sldId id="292" r:id="rId24"/>
    <p:sldId id="266" r:id="rId25"/>
    <p:sldId id="267" r:id="rId26"/>
    <p:sldId id="268" r:id="rId27"/>
    <p:sldId id="269" r:id="rId28"/>
    <p:sldId id="270" r:id="rId29"/>
    <p:sldId id="271" r:id="rId30"/>
    <p:sldId id="283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03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Decir: antes la información estaba dispersa. Rico BI une las piezas para responder preguntas comerciales: cuánto vendo, dónde gano, quién vende y cuánto cobro.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CB8F0-0E17-D164-668B-1B6240EC9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27916-2BD2-E9BB-3D2C-71175E15B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28778-F388-B4C4-6AEE-EFF234D07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FF134-E3C7-9C58-D485-5D4D62E83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23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CD21-23FA-E006-C7D1-18B3B7C6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FC5C4-349E-2CE0-6517-0243DABF8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AF1AF-710D-9F61-98D2-380258695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B4FE-B2D2-87C3-0F3A-276753352B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338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DAC5-FA6F-6187-48E2-882D9EBD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0BA34-35E4-89FE-1CA4-616FE052C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A7334-7FA2-2C70-1D32-9AA42ACFA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2307A-79B8-3BB3-AA8E-6C00E668C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49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AE2C3-FC37-EA00-3D89-FFF901378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2EA6F-B059-908D-9C76-68C4B2604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9FEEA-0EDD-20BF-6D72-8092B63CE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1E518-DE68-7079-8F98-CCCCE879E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21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46F20-FA44-1BE8-1B69-EC176B55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30129-9ACC-BBE1-9F2C-6A730A900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620B0-333F-8731-655F-7DB8EF73E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B84E3-29C8-852E-4BFD-7BAFBD51F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9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DC24-F5A7-A62B-1469-0203D105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4AFD7-3072-3E0A-AA39-41DDA7F0D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24960-7F55-DAE6-F8A8-EC734F781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A0F11-596D-96C6-7041-BF89E944F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7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637C-7641-01E4-8D6D-BB2E2421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73854-75BE-5976-CF9B-84E75997F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45F33-246B-E65E-3F6D-ABA524271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85F0F-9D6B-A962-1C4A-D54E163C76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389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EC54-B6A6-886B-E348-0A877273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7ADC8-3E0E-D4D7-6AD8-574209621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86DC2C-7EC3-4D6B-50BA-D0FDC4327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682ED-64C2-F340-86DA-9397557D2C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41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CB40-74E7-3447-AAC6-D781DEA0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D88DC-EDE1-6158-62B9-22DF72EF4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EB027-FC96-81BE-586B-AE4AE9AFB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2D4A-CD7D-654C-C8A1-AFE3D2E84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10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5407-28D9-7A05-8871-1BD99339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18B33-AF59-B65F-00A5-F5C01A958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42754-2B8D-EA7F-5E16-ED16DD96F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B512-4FB2-7EF8-8DBB-504F794A4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97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3FA6-9F4A-552D-A319-535AAC0B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2A652-4781-7184-017C-F0C05E6B6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92DDF-54A8-3B88-47B7-0197FC08A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2BF88-616B-9497-CCB8-A18736D37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79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72B27-C600-2921-8DC4-7E937EAF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A8B24-4EBC-53DB-8909-993142AE6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45DAC-414C-E06C-3F15-A3B019303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57D50-1CCC-04F9-D4A7-FC33A053A6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6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5AEC-97F7-A1ED-E62B-2E796FD1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CDF96-3040-11BE-C45A-0C0CC7DE5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1FEF5-2142-8A0A-8D82-306807F22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F58E5-5DE6-27CC-5026-CEB2371B9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705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DE20B-F9AB-415B-C4B7-6BC6C511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11228-40A1-621B-DE3B-8018E49B0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B7EED-CAC6-D486-3178-9B724CE93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E51C0-74F1-C086-3722-EB12704F2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07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DBC1-9015-71CA-FEA2-394D9F49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3889BE-C466-551B-53CE-6BC67C591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26F5F-D13B-D9C3-5243-D1723D643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1DB52-0F7D-1AA4-8F20-585909540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93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clean_food_photography_still_life_on_a_s.png"/>
          <p:cNvPicPr>
            <a:picLocks noChangeAspect="1"/>
          </p:cNvPicPr>
          <p:nvPr/>
        </p:nvPicPr>
        <p:blipFill>
          <a:blip r:embed="rId3"/>
          <a:srcRect l="20350" r="20350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1"/>
          <p:cNvSpPr/>
          <p:nvPr/>
        </p:nvSpPr>
        <p:spPr>
          <a:xfrm>
            <a:off x="6537960" y="0"/>
            <a:ext cx="228600" cy="6858000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2"/>
          <p:cNvSpPr/>
          <p:nvPr/>
        </p:nvSpPr>
        <p:spPr>
          <a:xfrm>
            <a:off x="658368" y="658368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749808" y="72237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 err="1">
                <a:solidFill>
                  <a:srgbClr val="20109A"/>
                </a:solidFill>
              </a:rPr>
              <a:t>Propuesta</a:t>
            </a:r>
            <a:r>
              <a:rPr lang="en-US" sz="900" b="1" dirty="0">
                <a:solidFill>
                  <a:srgbClr val="20109A"/>
                </a:solidFill>
              </a:rPr>
              <a:t> BI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D2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RICO BI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58368" y="1993392"/>
            <a:ext cx="51663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dato operativo a la decisión comercial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94944" y="3154680"/>
            <a:ext cx="4892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s-ES" sz="1600" dirty="0" err="1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r>
              <a:rPr lang="es-ES" sz="1600" dirty="0">
                <a:solidFill>
                  <a:srgbClr val="D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trazabilidad y decisión recomendada para vender mejor y cobrar mejor.</a:t>
            </a:r>
          </a:p>
        </p:txBody>
      </p:sp>
      <p:pic>
        <p:nvPicPr>
          <p:cNvPr id="10" name="Image 1" descr="/mnt/data/a_bright_clean_high_resolution_food_photography.png"/>
          <p:cNvPicPr>
            <a:picLocks noChangeAspect="1"/>
          </p:cNvPicPr>
          <p:nvPr/>
        </p:nvPicPr>
        <p:blipFill>
          <a:blip r:embed="rId4"/>
          <a:srcRect t="4023" b="4023"/>
          <a:stretch/>
        </p:blipFill>
        <p:spPr>
          <a:xfrm>
            <a:off x="694944" y="4663440"/>
            <a:ext cx="1325880" cy="914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94944" y="4663440"/>
            <a:ext cx="132588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8"/>
          <p:cNvSpPr/>
          <p:nvPr/>
        </p:nvSpPr>
        <p:spPr>
          <a:xfrm>
            <a:off x="694944" y="5266944"/>
            <a:ext cx="1325880" cy="310896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9"/>
          <p:cNvSpPr/>
          <p:nvPr/>
        </p:nvSpPr>
        <p:spPr>
          <a:xfrm>
            <a:off x="740664" y="53492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CERDO</a:t>
            </a:r>
            <a:endParaRPr lang="en-US" sz="950" dirty="0"/>
          </a:p>
        </p:txBody>
      </p:sp>
      <p:pic>
        <p:nvPicPr>
          <p:cNvPr id="14" name="Image 2" descr="/mnt/data/a_high_resolution_studio_lit_food_still_life_on_a.png"/>
          <p:cNvPicPr>
            <a:picLocks noChangeAspect="1"/>
          </p:cNvPicPr>
          <p:nvPr/>
        </p:nvPicPr>
        <p:blipFill>
          <a:blip r:embed="rId5"/>
          <a:srcRect t="4023" b="4023"/>
          <a:stretch/>
        </p:blipFill>
        <p:spPr>
          <a:xfrm>
            <a:off x="2240280" y="4663440"/>
            <a:ext cx="1325880" cy="9144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240280" y="4663440"/>
            <a:ext cx="132588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1"/>
          <p:cNvSpPr/>
          <p:nvPr/>
        </p:nvSpPr>
        <p:spPr>
          <a:xfrm>
            <a:off x="2240280" y="5266944"/>
            <a:ext cx="1325880" cy="310896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2"/>
          <p:cNvSpPr/>
          <p:nvPr/>
        </p:nvSpPr>
        <p:spPr>
          <a:xfrm>
            <a:off x="2286000" y="53492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EMBUTIDOS</a:t>
            </a:r>
            <a:endParaRPr lang="en-US" sz="950" dirty="0"/>
          </a:p>
        </p:txBody>
      </p:sp>
      <p:pic>
        <p:nvPicPr>
          <p:cNvPr id="18" name="Image 3" descr="/mnt/data/a_bright_clean_still_life_scene_of_eggs_on_a_glos.png"/>
          <p:cNvPicPr>
            <a:picLocks noChangeAspect="1"/>
          </p:cNvPicPr>
          <p:nvPr/>
        </p:nvPicPr>
        <p:blipFill>
          <a:blip r:embed="rId6"/>
          <a:srcRect t="4023" b="4023"/>
          <a:stretch/>
        </p:blipFill>
        <p:spPr>
          <a:xfrm>
            <a:off x="3785616" y="4663440"/>
            <a:ext cx="1325880" cy="9144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785616" y="4663440"/>
            <a:ext cx="132588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4"/>
          <p:cNvSpPr/>
          <p:nvPr/>
        </p:nvSpPr>
        <p:spPr>
          <a:xfrm>
            <a:off x="3785616" y="5266944"/>
            <a:ext cx="1325880" cy="310896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5"/>
          <p:cNvSpPr/>
          <p:nvPr/>
        </p:nvSpPr>
        <p:spPr>
          <a:xfrm>
            <a:off x="3831336" y="534924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HUEVO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pic>
        <p:nvPicPr>
          <p:cNvPr id="24" name="Image 1" descr="/mnt/data/rico_official/logo-rico.png">
            <a:extLst>
              <a:ext uri="{FF2B5EF4-FFF2-40B4-BE49-F238E27FC236}">
                <a16:creationId xmlns:a16="http://schemas.microsoft.com/office/drawing/2014/main" id="{1841F8E8-3138-70BA-763E-23937C8F7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416052"/>
            <a:ext cx="1795549" cy="13716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89EC430-13B6-27C3-222C-1839C5D2D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583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 NEGOCIO Y OBJETIVO DEL PROYECTO</a:t>
            </a:r>
            <a:endParaRPr lang="en-US" sz="2500" dirty="0">
              <a:solidFill>
                <a:schemeClr val="bg1"/>
              </a:solidFill>
            </a:endParaRPr>
          </a:p>
        </p:txBody>
      </p:sp>
      <p:pic>
        <p:nvPicPr>
          <p:cNvPr id="4" name="Image 0" descr="/mnt/data/rico_official/logo-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1340" y="658368"/>
            <a:ext cx="868680" cy="658368"/>
          </a:xfrm>
          <a:prstGeom prst="rect">
            <a:avLst/>
          </a:prstGeom>
        </p:spPr>
      </p:pic>
      <p:pic>
        <p:nvPicPr>
          <p:cNvPr id="6" name="Image 2" descr="/mnt/data/rico_official/pollo_crudo_pechuga.jpg"/>
          <p:cNvPicPr>
            <a:picLocks noChangeAspect="1"/>
          </p:cNvPicPr>
          <p:nvPr/>
        </p:nvPicPr>
        <p:blipFill>
          <a:blip r:embed="rId4"/>
          <a:srcRect t="6609" b="6609"/>
          <a:stretch/>
        </p:blipFill>
        <p:spPr>
          <a:xfrm>
            <a:off x="6421997" y="1063120"/>
            <a:ext cx="3889526" cy="31751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 2"/>
          <p:cNvSpPr/>
          <p:nvPr/>
        </p:nvSpPr>
        <p:spPr>
          <a:xfrm>
            <a:off x="1251064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</a:rPr>
              <a:t>Problema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4359102" y="4078223"/>
            <a:ext cx="3291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chemeClr val="bg1"/>
                </a:solidFill>
              </a:rPr>
              <a:t>Objetivo BI</a:t>
            </a:r>
            <a:endParaRPr lang="en-US" sz="2300" dirty="0">
              <a:solidFill>
                <a:schemeClr val="bg1"/>
              </a:solidFill>
            </a:endParaRPr>
          </a:p>
        </p:txBody>
      </p:sp>
      <p:sp>
        <p:nvSpPr>
          <p:cNvPr id="30" name="Text 24"/>
          <p:cNvSpPr/>
          <p:nvPr/>
        </p:nvSpPr>
        <p:spPr>
          <a:xfrm>
            <a:off x="10826496" y="6126480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b="1" dirty="0">
                <a:solidFill>
                  <a:srgbClr val="667085"/>
                </a:solidFill>
              </a:rPr>
              <a:t>Decisión</a:t>
            </a:r>
            <a:endParaRPr lang="en-US" sz="660" dirty="0"/>
          </a:p>
        </p:txBody>
      </p:sp>
      <p:sp>
        <p:nvSpPr>
          <p:cNvPr id="31" name="Text 25"/>
          <p:cNvSpPr/>
          <p:nvPr/>
        </p:nvSpPr>
        <p:spPr>
          <a:xfrm>
            <a:off x="438912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67085"/>
                </a:solidFill>
              </a:rPr>
              <a:t>Rico BI - presentación empresarial</a:t>
            </a:r>
            <a:endParaRPr lang="en-US" sz="720" dirty="0"/>
          </a:p>
        </p:txBody>
      </p:sp>
      <p:sp>
        <p:nvSpPr>
          <p:cNvPr id="32" name="Text 26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0109A"/>
                </a:solidFill>
              </a:rPr>
              <a:t>03</a:t>
            </a:r>
            <a:endParaRPr lang="en-US" sz="920" dirty="0"/>
          </a:p>
        </p:txBody>
      </p:sp>
      <p:sp>
        <p:nvSpPr>
          <p:cNvPr id="33" name="Shape 0">
            <a:extLst>
              <a:ext uri="{FF2B5EF4-FFF2-40B4-BE49-F238E27FC236}">
                <a16:creationId xmlns:a16="http://schemas.microsoft.com/office/drawing/2014/main" id="{D24B9BFB-E67B-677C-0C08-A77EDA819DE5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3016C39C-66CF-CD8E-A5A3-A017424AD026}"/>
              </a:ext>
            </a:extLst>
          </p:cNvPr>
          <p:cNvSpPr/>
          <p:nvPr/>
        </p:nvSpPr>
        <p:spPr>
          <a:xfrm>
            <a:off x="1204882" y="1824874"/>
            <a:ext cx="3625735" cy="160412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rgbClr val="101828"/>
                </a:solidFill>
              </a:rPr>
              <a:t>La </a:t>
            </a:r>
            <a:r>
              <a:rPr lang="en-US" dirty="0" err="1">
                <a:solidFill>
                  <a:srgbClr val="101828"/>
                </a:solidFill>
              </a:rPr>
              <a:t>empresa</a:t>
            </a:r>
            <a:r>
              <a:rPr lang="en-US" dirty="0">
                <a:solidFill>
                  <a:srgbClr val="101828"/>
                </a:solidFill>
              </a:rPr>
              <a:t> </a:t>
            </a:r>
            <a:r>
              <a:rPr lang="en-US" dirty="0" err="1">
                <a:solidFill>
                  <a:srgbClr val="101828"/>
                </a:solidFill>
              </a:rPr>
              <a:t>tiene</a:t>
            </a:r>
            <a:r>
              <a:rPr lang="en-US" dirty="0">
                <a:solidFill>
                  <a:srgbClr val="101828"/>
                </a:solidFill>
              </a:rPr>
              <a:t> </a:t>
            </a:r>
            <a:r>
              <a:rPr lang="en-US" dirty="0" err="1">
                <a:solidFill>
                  <a:srgbClr val="101828"/>
                </a:solidFill>
              </a:rPr>
              <a:t>información</a:t>
            </a:r>
            <a:r>
              <a:rPr lang="en-US" dirty="0">
                <a:solidFill>
                  <a:srgbClr val="101828"/>
                </a:solidFill>
              </a:rPr>
              <a:t> de </a:t>
            </a:r>
            <a:r>
              <a:rPr lang="en-US" dirty="0" err="1">
                <a:solidFill>
                  <a:srgbClr val="101828"/>
                </a:solidFill>
              </a:rPr>
              <a:t>ventas</a:t>
            </a:r>
            <a:r>
              <a:rPr lang="en-US" dirty="0">
                <a:solidFill>
                  <a:srgbClr val="101828"/>
                </a:solidFill>
              </a:rPr>
              <a:t>, </a:t>
            </a:r>
            <a:r>
              <a:rPr lang="en-US" dirty="0" err="1">
                <a:solidFill>
                  <a:srgbClr val="101828"/>
                </a:solidFill>
              </a:rPr>
              <a:t>productos</a:t>
            </a:r>
            <a:r>
              <a:rPr lang="en-US" dirty="0">
                <a:solidFill>
                  <a:srgbClr val="101828"/>
                </a:solidFill>
              </a:rPr>
              <a:t>, </a:t>
            </a:r>
            <a:r>
              <a:rPr lang="en-US" dirty="0" err="1">
                <a:solidFill>
                  <a:srgbClr val="101828"/>
                </a:solidFill>
              </a:rPr>
              <a:t>clientes</a:t>
            </a:r>
            <a:r>
              <a:rPr lang="en-US" dirty="0">
                <a:solidFill>
                  <a:srgbClr val="101828"/>
                </a:solidFill>
              </a:rPr>
              <a:t>, </a:t>
            </a:r>
            <a:r>
              <a:rPr lang="en-US" dirty="0" err="1">
                <a:solidFill>
                  <a:srgbClr val="101828"/>
                </a:solidFill>
              </a:rPr>
              <a:t>vendedores</a:t>
            </a:r>
            <a:r>
              <a:rPr lang="en-US" dirty="0">
                <a:solidFill>
                  <a:srgbClr val="101828"/>
                </a:solidFill>
              </a:rPr>
              <a:t> y </a:t>
            </a:r>
            <a:r>
              <a:rPr lang="en-US" dirty="0" err="1">
                <a:solidFill>
                  <a:srgbClr val="101828"/>
                </a:solidFill>
              </a:rPr>
              <a:t>pagos</a:t>
            </a:r>
            <a:r>
              <a:rPr lang="en-US" dirty="0">
                <a:solidFill>
                  <a:srgbClr val="101828"/>
                </a:solidFill>
              </a:rPr>
              <a:t>, </a:t>
            </a:r>
            <a:r>
              <a:rPr lang="en-US" dirty="0" err="1">
                <a:solidFill>
                  <a:srgbClr val="101828"/>
                </a:solidFill>
              </a:rPr>
              <a:t>pero</a:t>
            </a:r>
            <a:r>
              <a:rPr lang="en-US" dirty="0">
                <a:solidFill>
                  <a:srgbClr val="101828"/>
                </a:solidFill>
              </a:rPr>
              <a:t> </a:t>
            </a:r>
            <a:r>
              <a:rPr lang="en-US" dirty="0" err="1">
                <a:solidFill>
                  <a:srgbClr val="101828"/>
                </a:solidFill>
              </a:rPr>
              <a:t>necesita</a:t>
            </a:r>
            <a:r>
              <a:rPr lang="en-US" dirty="0">
                <a:solidFill>
                  <a:srgbClr val="101828"/>
                </a:solidFill>
              </a:rPr>
              <a:t> </a:t>
            </a:r>
            <a:r>
              <a:rPr lang="en-US" dirty="0" err="1">
                <a:solidFill>
                  <a:srgbClr val="101828"/>
                </a:solidFill>
              </a:rPr>
              <a:t>una</a:t>
            </a:r>
            <a:r>
              <a:rPr lang="en-US" dirty="0">
                <a:solidFill>
                  <a:srgbClr val="101828"/>
                </a:solidFill>
              </a:rPr>
              <a:t> vista </a:t>
            </a:r>
            <a:r>
              <a:rPr lang="en-US" dirty="0" err="1">
                <a:solidFill>
                  <a:srgbClr val="101828"/>
                </a:solidFill>
              </a:rPr>
              <a:t>integrada</a:t>
            </a:r>
            <a:r>
              <a:rPr lang="en-US" dirty="0">
                <a:solidFill>
                  <a:srgbClr val="101828"/>
                </a:solidFill>
              </a:rPr>
              <a:t> para </a:t>
            </a:r>
            <a:r>
              <a:rPr lang="en-US" dirty="0" err="1">
                <a:solidFill>
                  <a:srgbClr val="101828"/>
                </a:solidFill>
              </a:rPr>
              <a:t>decidir</a:t>
            </a:r>
            <a:r>
              <a:rPr lang="en-US" dirty="0">
                <a:solidFill>
                  <a:srgbClr val="101828"/>
                </a:solidFill>
              </a:rPr>
              <a:t> con </a:t>
            </a:r>
            <a:r>
              <a:rPr lang="en-US" dirty="0" err="1">
                <a:solidFill>
                  <a:srgbClr val="101828"/>
                </a:solidFill>
              </a:rPr>
              <a:t>rapidez</a:t>
            </a:r>
            <a:r>
              <a:rPr lang="en-US" dirty="0">
                <a:solidFill>
                  <a:srgbClr val="101828"/>
                </a:solidFill>
              </a:rPr>
              <a:t>.</a:t>
            </a:r>
            <a:endParaRPr lang="en-US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0471D0EA-AE05-CEEB-8BEC-3A431FA3C5E0}"/>
              </a:ext>
            </a:extLst>
          </p:cNvPr>
          <p:cNvSpPr/>
          <p:nvPr/>
        </p:nvSpPr>
        <p:spPr>
          <a:xfrm>
            <a:off x="4282979" y="4417429"/>
            <a:ext cx="4480560" cy="112383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pPr algn="ctr"/>
            <a:r>
              <a:rPr lang="en-US" dirty="0" err="1">
                <a:solidFill>
                  <a:srgbClr val="101828"/>
                </a:solidFill>
              </a:rPr>
              <a:t>Implementar</a:t>
            </a:r>
            <a:r>
              <a:rPr lang="en-US" dirty="0">
                <a:solidFill>
                  <a:srgbClr val="101828"/>
                </a:solidFill>
              </a:rPr>
              <a:t> un DataMart </a:t>
            </a:r>
            <a:r>
              <a:rPr lang="en-US" dirty="0" err="1">
                <a:solidFill>
                  <a:srgbClr val="101828"/>
                </a:solidFill>
              </a:rPr>
              <a:t>comercial</a:t>
            </a:r>
            <a:r>
              <a:rPr lang="en-US" dirty="0">
                <a:solidFill>
                  <a:srgbClr val="101828"/>
                </a:solidFill>
              </a:rPr>
              <a:t>, de </a:t>
            </a:r>
            <a:r>
              <a:rPr lang="en-US" dirty="0" err="1">
                <a:solidFill>
                  <a:srgbClr val="101828"/>
                </a:solidFill>
              </a:rPr>
              <a:t>rentabilidad</a:t>
            </a:r>
            <a:r>
              <a:rPr lang="en-US" dirty="0">
                <a:solidFill>
                  <a:srgbClr val="101828"/>
                </a:solidFill>
              </a:rPr>
              <a:t> y </a:t>
            </a:r>
            <a:r>
              <a:rPr lang="en-US" dirty="0" err="1">
                <a:solidFill>
                  <a:srgbClr val="101828"/>
                </a:solidFill>
              </a:rPr>
              <a:t>cobranza</a:t>
            </a:r>
            <a:r>
              <a:rPr lang="en-US" dirty="0">
                <a:solidFill>
                  <a:srgbClr val="101828"/>
                </a:solidFill>
              </a:rPr>
              <a:t>, con dashboards </a:t>
            </a:r>
            <a:r>
              <a:rPr lang="en-US" dirty="0" err="1">
                <a:solidFill>
                  <a:srgbClr val="101828"/>
                </a:solidFill>
              </a:rPr>
              <a:t>validados</a:t>
            </a:r>
            <a:r>
              <a:rPr lang="en-US" dirty="0">
                <a:solidFill>
                  <a:srgbClr val="101828"/>
                </a:solidFill>
              </a:rPr>
              <a:t> y </a:t>
            </a:r>
            <a:r>
              <a:rPr lang="en-US" dirty="0" err="1">
                <a:solidFill>
                  <a:srgbClr val="101828"/>
                </a:solidFill>
              </a:rPr>
              <a:t>una</a:t>
            </a:r>
            <a:r>
              <a:rPr lang="en-US" dirty="0">
                <a:solidFill>
                  <a:srgbClr val="101828"/>
                </a:solidFill>
              </a:rPr>
              <a:t> </a:t>
            </a:r>
            <a:r>
              <a:rPr lang="en-US" dirty="0" err="1">
                <a:solidFill>
                  <a:srgbClr val="101828"/>
                </a:solidFill>
              </a:rPr>
              <a:t>decisión</a:t>
            </a:r>
            <a:r>
              <a:rPr lang="en-US" dirty="0">
                <a:solidFill>
                  <a:srgbClr val="101828"/>
                </a:solidFill>
              </a:rPr>
              <a:t> </a:t>
            </a:r>
            <a:r>
              <a:rPr lang="en-US" dirty="0" err="1">
                <a:solidFill>
                  <a:srgbClr val="101828"/>
                </a:solidFill>
              </a:rPr>
              <a:t>recomendada</a:t>
            </a:r>
            <a:r>
              <a:rPr lang="en-US" dirty="0">
                <a:solidFill>
                  <a:srgbClr val="101828"/>
                </a:solidFill>
              </a:rPr>
              <a:t>.</a:t>
            </a:r>
            <a:endParaRPr lang="en-US" dirty="0"/>
          </a:p>
        </p:txBody>
      </p:sp>
      <p:pic>
        <p:nvPicPr>
          <p:cNvPr id="37" name="Image 0" descr="/mnt/data/a_bright_clean_high_resolution_food_photography.png">
            <a:extLst>
              <a:ext uri="{FF2B5EF4-FFF2-40B4-BE49-F238E27FC236}">
                <a16:creationId xmlns:a16="http://schemas.microsoft.com/office/drawing/2014/main" id="{C601A753-28A7-FCB7-FCA7-3AEB5FA652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146" r="20146"/>
          <a:stretch/>
        </p:blipFill>
        <p:spPr>
          <a:xfrm>
            <a:off x="1567202" y="3799742"/>
            <a:ext cx="1852354" cy="23267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39928" y="58293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Rico BI vende una promesa simple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018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que no solo muestra datos: orienta la decisión comercial.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280160" y="1851037"/>
            <a:ext cx="1508760" cy="914400"/>
          </a:xfrm>
          <a:prstGeom prst="roundRect">
            <a:avLst>
              <a:gd name="adj" fmla="val 15000"/>
            </a:avLst>
          </a:prstGeom>
          <a:solidFill>
            <a:srgbClr val="E8F3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1408176" y="1960765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2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360°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44752" y="2289949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comercial y financiera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548640" y="3035808"/>
            <a:ext cx="3284451" cy="2203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combina DataMart, validación, Power BI y documentación publicable para que gerencia confíe en el número antes de actuar.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777240" y="5157216"/>
            <a:ext cx="4023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1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solo dashboard: es producto BI trazable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E4BCDB3-9B03-5503-03A4-24F5DE313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596" y="1671066"/>
            <a:ext cx="7327724" cy="24254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B20938B-56AB-2D66-17FA-3F1A65D75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870" y="4456113"/>
            <a:ext cx="7264815" cy="806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62759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principales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mueven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negocio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032458" y="1537731"/>
            <a:ext cx="1714063" cy="48483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4160474" y="1647459"/>
            <a:ext cx="1532955" cy="135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7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S/ 605.83 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60140" y="1851005"/>
            <a:ext cx="2926357" cy="54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facturadas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31637" y="1537731"/>
            <a:ext cx="1714063" cy="48483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6359653" y="1647459"/>
            <a:ext cx="1532955" cy="135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A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S/ 154.18 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47499" y="1691784"/>
            <a:ext cx="1481210" cy="7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Margen bruto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4032458" y="2236995"/>
            <a:ext cx="1714063" cy="48483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4160474" y="2346723"/>
            <a:ext cx="1532955" cy="135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30.03%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153259" y="2427439"/>
            <a:ext cx="1481210" cy="7313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margen bruto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6231637" y="2236995"/>
            <a:ext cx="1714063" cy="48483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6359653" y="2346723"/>
            <a:ext cx="1532955" cy="135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7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96.34%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298768" y="2445378"/>
            <a:ext cx="1481210" cy="672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cobrado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4032458" y="2915884"/>
            <a:ext cx="1714063" cy="48483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4160474" y="3025612"/>
            <a:ext cx="1532955" cy="135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9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12.27 días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187318" y="3098764"/>
            <a:ext cx="1481210" cy="71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DSO promedio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6231637" y="2915884"/>
            <a:ext cx="1714063" cy="48483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6359653" y="3025612"/>
            <a:ext cx="1532955" cy="135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9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S/ 22.16 M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386497" y="3066888"/>
            <a:ext cx="1481210" cy="804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Saldo pendiente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4032458" y="4764900"/>
            <a:ext cx="3977641" cy="79027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Estos </a:t>
            </a:r>
            <a:r>
              <a:rPr lang="es-ES" sz="1600" b="1" dirty="0" err="1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</a:t>
            </a:r>
            <a:r>
              <a:rPr lang="es-ES" sz="160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permiten evaluar ventas, rentabilidad, clientes, vendedores y cobranza sin depender de hojas aisladas.</a:t>
            </a:r>
          </a:p>
        </p:txBody>
      </p:sp>
      <p:sp>
        <p:nvSpPr>
          <p:cNvPr id="26" name="Text 23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A539683F-6805-770B-9647-C58CF812E756}"/>
              </a:ext>
            </a:extLst>
          </p:cNvPr>
          <p:cNvSpPr/>
          <p:nvPr/>
        </p:nvSpPr>
        <p:spPr>
          <a:xfrm>
            <a:off x="5315483" y="4007938"/>
            <a:ext cx="1216446" cy="602111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E53935"/>
            </a:solidFill>
            <a:prstDash val="solid"/>
          </a:ln>
        </p:spPr>
        <p:txBody>
          <a:bodyPr/>
          <a:lstStyle/>
          <a:p>
            <a:pPr algn="ctr"/>
            <a:r>
              <a:rPr lang="es-PE" b="1" dirty="0"/>
              <a:t>24 </a:t>
            </a:r>
            <a:r>
              <a:rPr lang="es-PE" b="1" dirty="0" err="1"/>
              <a:t>KPIs</a:t>
            </a:r>
            <a:endParaRPr lang="es-PE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7E206D-5D73-ECF4-01BE-6A15C88452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39"/>
          <a:stretch>
            <a:fillRect/>
          </a:stretch>
        </p:blipFill>
        <p:spPr>
          <a:xfrm>
            <a:off x="-1" y="-1"/>
            <a:ext cx="10870163" cy="6867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1366292" y="15661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dimensional</a:t>
            </a:r>
          </a:p>
        </p:txBody>
      </p:sp>
      <p:sp>
        <p:nvSpPr>
          <p:cNvPr id="12" name="Text 8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DACF6F1-3905-B23B-F397-FE8DB42F5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292" y="2119084"/>
            <a:ext cx="8990688" cy="29532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9C4428F-E5B9-210D-FB66-FFE150DCF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36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5F901-D9FE-4F8F-DB4F-0A4AEE5C8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7902AA-DC37-8602-9AB1-00882864784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7FA969-493C-F185-7F5D-052AF9161E36}"/>
              </a:ext>
            </a:extLst>
          </p:cNvPr>
          <p:cNvSpPr/>
          <p:nvPr/>
        </p:nvSpPr>
        <p:spPr>
          <a:xfrm>
            <a:off x="1366292" y="15661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dimensional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561D200-9764-4CDD-A4D0-FA4D56876C10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669E188-5914-1BB9-EF96-C3381D39DAE9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CE2F4B7-D344-045F-C955-46F5A0C8E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292" y="2119084"/>
            <a:ext cx="8990688" cy="29532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E7CFFCD-1CE5-7B7D-551B-0A34C281B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2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FA9A8-DC51-8581-2F56-67E3DFA3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DD18CD5-87F9-827C-60F5-C7CBD5397C3D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0E8EA2-3F45-67D5-FDA7-E2392BC59BEC}"/>
              </a:ext>
            </a:extLst>
          </p:cNvPr>
          <p:cNvSpPr/>
          <p:nvPr/>
        </p:nvSpPr>
        <p:spPr>
          <a:xfrm>
            <a:off x="1366292" y="15661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dimensional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C51D03B-1F79-B9E0-682F-62F19E86517F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6261245-0DCD-8C5C-9084-23D66333340C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41496CA-6E35-1B4F-9E06-DDFB64EEB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292" y="2119084"/>
            <a:ext cx="8990688" cy="29532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ED5D5FE-4861-0AC1-2584-58E401A9B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1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EFBA6-F903-198B-1EFC-054F9858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A7C75C-E9FD-0D35-AB91-262894CC6F8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942CF0-7D5B-A531-84C9-DF9EE3288BEE}"/>
              </a:ext>
            </a:extLst>
          </p:cNvPr>
          <p:cNvSpPr/>
          <p:nvPr/>
        </p:nvSpPr>
        <p:spPr>
          <a:xfrm>
            <a:off x="1366292" y="15661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dimensional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E55DA5F-3B24-7D0F-A562-F6A04EC7C416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9942E62-F80E-877C-678A-2D8E5375C598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D08FEE9-E780-B909-A3C8-553BE4397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292" y="2119084"/>
            <a:ext cx="8990688" cy="295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40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85D51-C469-2037-8BFD-0488193D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D01C58-2318-775E-EF1C-C6F0AB24ADCA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A797C1-A71D-4754-C4C3-4926D61B34C8}"/>
              </a:ext>
            </a:extLst>
          </p:cNvPr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Implementación manual del </a:t>
            </a:r>
            <a:r>
              <a:rPr lang="es-E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DataMart</a:t>
            </a:r>
            <a:r>
              <a:rPr lang="es-E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 SQL</a:t>
            </a:r>
            <a:endParaRPr lang="en-US" sz="2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616D174-BE46-A17B-799C-F2F779E2EA0A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A08D995-7D74-7455-9A70-102848EA75CE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034845F-FE99-9FB9-5C78-1CF5DF2EF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84" y="998036"/>
            <a:ext cx="2733067" cy="154940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405A1A9-5A2B-DB22-7FBF-A1FDA1AD7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053" y="2813956"/>
            <a:ext cx="9289527" cy="3696572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0812876C-ED28-8D44-FA8D-C08EA7595B14}"/>
              </a:ext>
            </a:extLst>
          </p:cNvPr>
          <p:cNvSpPr txBox="1"/>
          <p:nvPr/>
        </p:nvSpPr>
        <p:spPr>
          <a:xfrm>
            <a:off x="3905107" y="1258344"/>
            <a:ext cx="6100618" cy="120032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• Crear dimensiones y hechos de forma manual</a:t>
            </a:r>
          </a:p>
          <a:p>
            <a:r>
              <a:rPr lang="es-ES" dirty="0">
                <a:solidFill>
                  <a:schemeClr val="bg1"/>
                </a:solidFill>
              </a:rPr>
              <a:t>• Definir el grano de análisis: línea de venta y pago</a:t>
            </a:r>
          </a:p>
          <a:p>
            <a:pPr algn="ctr"/>
            <a:r>
              <a:rPr lang="es-ES" dirty="0">
                <a:solidFill>
                  <a:schemeClr val="bg1"/>
                </a:solidFill>
              </a:rPr>
              <a:t>• Calcular métricas como total, costo, margen, saldo y mora</a:t>
            </a:r>
          </a:p>
          <a:p>
            <a:r>
              <a:rPr lang="es-ES" dirty="0">
                <a:solidFill>
                  <a:schemeClr val="bg1"/>
                </a:solidFill>
              </a:rPr>
              <a:t>• Validar la lógica antes de automatizar con herramientas</a:t>
            </a:r>
          </a:p>
        </p:txBody>
      </p:sp>
    </p:spTree>
    <p:extLst>
      <p:ext uri="{BB962C8B-B14F-4D97-AF65-F5344CB8AC3E}">
        <p14:creationId xmlns:p14="http://schemas.microsoft.com/office/powerpoint/2010/main" val="388927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F2842-E2CF-896D-35B8-3153A8CC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8CF739-05C5-D3F9-9CCF-26CB6D8E601F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C772CA-E6B8-A564-3E29-F562E0901659}"/>
              </a:ext>
            </a:extLst>
          </p:cNvPr>
          <p:cNvSpPr/>
          <p:nvPr/>
        </p:nvSpPr>
        <p:spPr>
          <a:xfrm>
            <a:off x="657110" y="813677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Script de creación de tablas</a:t>
            </a:r>
            <a:endParaRPr lang="en-US" sz="2400" b="1" dirty="0">
              <a:solidFill>
                <a:srgbClr val="FFFF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8B07D30-7D08-7D60-5725-4A1B5B6FD614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EAC51C9-1D7C-1EBD-EEF3-8EEB401155B9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5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801237-B1CD-484D-904E-58017374F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680"/>
          <a:stretch>
            <a:fillRect/>
          </a:stretch>
        </p:blipFill>
        <p:spPr>
          <a:xfrm>
            <a:off x="657110" y="1910818"/>
            <a:ext cx="5692633" cy="210330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EDB1EF-EB04-78A5-9C91-1E59FADC8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10" y="4014120"/>
            <a:ext cx="5692633" cy="21033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C16F303-5DF2-C1D8-27B0-6A6AFA2C2A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910"/>
          <a:stretch>
            <a:fillRect/>
          </a:stretch>
        </p:blipFill>
        <p:spPr>
          <a:xfrm>
            <a:off x="7229355" y="512051"/>
            <a:ext cx="4263170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56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794F1-2421-059B-AEAF-E3E11CFA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9DE6C7-5BA7-A055-9D2B-3CDE7BC401EE}"/>
              </a:ext>
            </a:extLst>
          </p:cNvPr>
          <p:cNvSpPr/>
          <p:nvPr/>
        </p:nvSpPr>
        <p:spPr>
          <a:xfrm>
            <a:off x="305" y="-27445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A3BDF1-0FB2-BC5E-13E7-6F3B9BD2E007}"/>
              </a:ext>
            </a:extLst>
          </p:cNvPr>
          <p:cNvSpPr/>
          <p:nvPr/>
        </p:nvSpPr>
        <p:spPr>
          <a:xfrm>
            <a:off x="809509" y="22705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ETL manual con SQL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5E2327D-4681-5F25-8B79-8266B17CF971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AC495DCD-6572-7CE7-55B0-74DF0C12ED54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BE655E3-F58A-ECF6-9637-BE4068646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205" y="4415876"/>
            <a:ext cx="7418209" cy="171061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758F718-95C9-5796-2644-8F4D9FE213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888"/>
          <a:stretch>
            <a:fillRect/>
          </a:stretch>
        </p:blipFill>
        <p:spPr>
          <a:xfrm>
            <a:off x="809509" y="1559685"/>
            <a:ext cx="10760905" cy="250846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787E105-5C9C-2CBA-124C-8F672F7B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81018"/>
          <a:stretch>
            <a:fillRect/>
          </a:stretch>
        </p:blipFill>
        <p:spPr>
          <a:xfrm>
            <a:off x="809509" y="765021"/>
            <a:ext cx="10760901" cy="1079478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6F482E4-0AC8-91A1-E34F-E25E0C52EB0F}"/>
              </a:ext>
            </a:extLst>
          </p:cNvPr>
          <p:cNvSpPr txBox="1"/>
          <p:nvPr/>
        </p:nvSpPr>
        <p:spPr>
          <a:xfrm>
            <a:off x="1759089" y="5034879"/>
            <a:ext cx="6102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solidFill>
                  <a:schemeClr val="bg1"/>
                </a:solidFill>
              </a:rPr>
              <a:t>carga manual</a:t>
            </a:r>
          </a:p>
        </p:txBody>
      </p:sp>
    </p:spTree>
    <p:extLst>
      <p:ext uri="{BB962C8B-B14F-4D97-AF65-F5344CB8AC3E}">
        <p14:creationId xmlns:p14="http://schemas.microsoft.com/office/powerpoint/2010/main" val="148869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7150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r>
              <a:rPr lang="en-U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end-to-end </a:t>
            </a:r>
            <a:r>
              <a:rPr lang="en-U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implementada</a:t>
            </a:r>
            <a:endParaRPr lang="en-US" sz="2400" b="1" dirty="0">
              <a:solidFill>
                <a:srgbClr val="06345E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de OLTP, ingesta, transformación, DataMart y visualización.</a:t>
            </a:r>
            <a:endParaRPr lang="en-US" sz="950" dirty="0"/>
          </a:p>
        </p:txBody>
      </p:sp>
      <p:pic>
        <p:nvPicPr>
          <p:cNvPr id="5" name="Image 0" descr="/mnt/data/a_bright_clean_food_photography_still_life_on_a_s.png"/>
          <p:cNvPicPr>
            <a:picLocks noChangeAspect="1"/>
          </p:cNvPicPr>
          <p:nvPr/>
        </p:nvPicPr>
        <p:blipFill>
          <a:blip r:embed="rId3"/>
          <a:srcRect l="28761" r="28761"/>
          <a:stretch/>
        </p:blipFill>
        <p:spPr>
          <a:xfrm>
            <a:off x="475488" y="1152144"/>
            <a:ext cx="2926080" cy="51663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hape 3"/>
          <p:cNvSpPr/>
          <p:nvPr/>
        </p:nvSpPr>
        <p:spPr>
          <a:xfrm>
            <a:off x="3575304" y="2029967"/>
            <a:ext cx="1417320" cy="914400"/>
          </a:xfrm>
          <a:prstGeom prst="roundRect">
            <a:avLst>
              <a:gd name="adj" fmla="val 16000"/>
            </a:avLst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3648456" y="2221991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MySQL OLTP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648456" y="2514599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ventas, pagos, clientes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5029200" y="225856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6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312664" y="2029967"/>
            <a:ext cx="1417320" cy="914400"/>
          </a:xfrm>
          <a:prstGeom prst="roundRect">
            <a:avLst>
              <a:gd name="adj" fmla="val 16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5385816" y="2221991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1E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Airbyte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385816" y="2514599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001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ingesta hacia raw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6766560" y="225856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6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796528" y="2029967"/>
            <a:ext cx="1417320" cy="914400"/>
          </a:xfrm>
          <a:prstGeom prst="roundRect">
            <a:avLst>
              <a:gd name="adj" fmla="val 16000"/>
            </a:avLst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869680" y="2221991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69680" y="2514599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DataMart analítico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8503920" y="225856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6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7040880" y="1995350"/>
            <a:ext cx="1417320" cy="914400"/>
          </a:xfrm>
          <a:prstGeom prst="roundRect">
            <a:avLst>
              <a:gd name="adj" fmla="val 16000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7040880" y="2318043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1E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040880" y="2610651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001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staging, marts, tests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0241280" y="225856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6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➜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0524744" y="2029967"/>
            <a:ext cx="1417320" cy="914400"/>
          </a:xfrm>
          <a:prstGeom prst="roundRect">
            <a:avLst>
              <a:gd name="adj" fmla="val 16000"/>
            </a:avLst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10597896" y="2221991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0597896" y="2514599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ejecutivo</a:t>
            </a:r>
            <a:endParaRPr lang="en-US" sz="680" dirty="0"/>
          </a:p>
        </p:txBody>
      </p:sp>
      <p:sp>
        <p:nvSpPr>
          <p:cNvPr id="28" name="Text 24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5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113DB04B-8392-2BE9-E592-71423E19A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722" y="3512934"/>
            <a:ext cx="8066598" cy="1589419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24D8A4C-B875-3987-72AD-443D605A7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5342559"/>
            <a:ext cx="7875271" cy="656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Ingesta de </a:t>
            </a:r>
            <a:r>
              <a:rPr lang="en-U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Airbyte sincroniza datos desde MySQL hacia PostgreSQL raw.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DC95891C-D3EE-C422-F559-D9089591A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2" y="1138903"/>
            <a:ext cx="5316806" cy="1282802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2FE136A-A01B-F781-9521-71EAA332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34474"/>
            <a:ext cx="5713598" cy="312938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0D53FF7-DA96-944F-309D-7FAD235FF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223" y="320040"/>
            <a:ext cx="5056664" cy="358563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38BB99A-0B19-99A6-7FD4-30A5FFCEB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0854" y="4197028"/>
            <a:ext cx="7877726" cy="2131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3EC567-7B8A-9432-CC88-0BF3A790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14FD94-19B2-807D-1CEB-581D754B8AA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3F7036-4172-BD5A-0381-3E210728B77D}"/>
              </a:ext>
            </a:extLst>
          </p:cNvPr>
          <p:cNvSpPr/>
          <p:nvPr/>
        </p:nvSpPr>
        <p:spPr>
          <a:xfrm>
            <a:off x="2403345" y="7529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</a:t>
            </a: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del pipeline</a:t>
            </a:r>
            <a:endParaRPr lang="en-US" sz="2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615CC32-2B14-777D-2385-C2504EA7D201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1B21546-64B4-487B-C6C2-EAFC67490231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359D190-752B-177A-8063-EA8A4E75D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345" y="1356048"/>
            <a:ext cx="9482800" cy="135984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BE87D73-7077-1806-F8EC-339B73E71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456845" y="2897629"/>
            <a:ext cx="5728514" cy="158922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24B190D-D621-6C9F-4F97-2DE43CA60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345" y="3771055"/>
            <a:ext cx="9433410" cy="1684309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A828A9C7-E8E0-423A-F884-63C87B123D55}"/>
              </a:ext>
            </a:extLst>
          </p:cNvPr>
          <p:cNvSpPr txBox="1"/>
          <p:nvPr/>
        </p:nvSpPr>
        <p:spPr>
          <a:xfrm>
            <a:off x="2389570" y="3168523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</a:t>
            </a:r>
            <a:r>
              <a:rPr lang="en-US" sz="1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dbt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48098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dbt transforma el dato en modelo de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reglas de ventas, pagos, margen y cobranza quedan versionadas y reproducibles.</a:t>
            </a:r>
            <a:endParaRPr lang="en-US" sz="950" dirty="0"/>
          </a:p>
        </p:txBody>
      </p:sp>
      <p:pic>
        <p:nvPicPr>
          <p:cNvPr id="9" name="Image 2" descr="/mnt/data/a_high_resolution_studio_lit_food_still_life_on_a.png"/>
          <p:cNvPicPr>
            <a:picLocks noChangeAspect="1"/>
          </p:cNvPicPr>
          <p:nvPr/>
        </p:nvPicPr>
        <p:blipFill>
          <a:blip r:embed="rId3"/>
          <a:srcRect t="23451" b="23451"/>
          <a:stretch/>
        </p:blipFill>
        <p:spPr>
          <a:xfrm>
            <a:off x="6752704" y="1046019"/>
            <a:ext cx="5166360" cy="2057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 6"/>
          <p:cNvSpPr/>
          <p:nvPr/>
        </p:nvSpPr>
        <p:spPr>
          <a:xfrm>
            <a:off x="8903856" y="3344766"/>
            <a:ext cx="2503054" cy="156897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rentabilidad no se improvisa: Rico BI separa ventas con IGV, ventas netas sin IGV, costo y margen bruto.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8764384" y="5231246"/>
            <a:ext cx="2939936" cy="310896"/>
          </a:xfrm>
          <a:prstGeom prst="roundRect">
            <a:avLst>
              <a:gd name="adj" fmla="val 23529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8"/>
          <p:cNvSpPr/>
          <p:nvPr/>
        </p:nvSpPr>
        <p:spPr>
          <a:xfrm>
            <a:off x="8444344" y="5318114"/>
            <a:ext cx="3383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1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claras = decisiones confiables</a:t>
            </a:r>
            <a:endParaRPr lang="en-US" sz="880" dirty="0"/>
          </a:p>
        </p:txBody>
      </p:sp>
      <p:sp>
        <p:nvSpPr>
          <p:cNvPr id="14" name="Text 9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06824CD-5D96-D7DD-1E03-070074E42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02632"/>
            <a:ext cx="6131722" cy="153293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CE94271-E6FF-30BD-EE1F-1E189261E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1" y="3247784"/>
            <a:ext cx="8022350" cy="30123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BB673-452F-EBCC-D569-5D6C25DA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DCA130-BA72-3F3D-79EE-00BA62D5DF0A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DB6AD4-3AB5-3BAE-C8F4-E71DA26BCA64}"/>
              </a:ext>
            </a:extLst>
          </p:cNvPr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Construcción del </a:t>
            </a:r>
            <a:r>
              <a:rPr lang="es-E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DataMart</a:t>
            </a: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 </a:t>
            </a:r>
            <a:r>
              <a:rPr lang="es-E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dbt</a:t>
            </a: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en </a:t>
            </a:r>
            <a:r>
              <a:rPr lang="es-E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marts</a:t>
            </a:r>
            <a:endParaRPr lang="en-US" sz="24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1DFD2932-7F01-DC4F-02D9-C756073505AD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3BC3126-1E99-B021-8AD1-41A092F74612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FF7364D-FCBE-DFF0-71C1-A38420FB5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494"/>
          <a:stretch>
            <a:fillRect/>
          </a:stretch>
        </p:blipFill>
        <p:spPr>
          <a:xfrm>
            <a:off x="411480" y="769108"/>
            <a:ext cx="5216744" cy="590601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B875B3A-3712-1577-9B9D-944B9F390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278" y="769109"/>
            <a:ext cx="4851045" cy="590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09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Calidad de datos como argumento de venta</a:t>
            </a:r>
            <a:endParaRPr lang="en-US" sz="2400" dirty="0"/>
          </a:p>
        </p:txBody>
      </p:sp>
      <p:pic>
        <p:nvPicPr>
          <p:cNvPr id="5" name="Image 0" descr="/mnt/data/rico_bi_assets/crops/dbt_tests_console.png"/>
          <p:cNvPicPr>
            <a:picLocks noChangeAspect="1"/>
          </p:cNvPicPr>
          <p:nvPr/>
        </p:nvPicPr>
        <p:blipFill>
          <a:blip r:embed="rId3"/>
          <a:srcRect l="11064" r="11064"/>
          <a:stretch/>
        </p:blipFill>
        <p:spPr>
          <a:xfrm>
            <a:off x="7955280" y="1217828"/>
            <a:ext cx="3749040" cy="4343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7" name="Text 11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FB6D880-8871-B5DF-D321-E75CE3D41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35809"/>
            <a:ext cx="7209145" cy="22398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FC8F7B6-A31C-6B7A-2163-B7CF516A6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85" y="866155"/>
            <a:ext cx="7209145" cy="18365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DABFF7D-5715-5A1C-3BF3-CA2D6C972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85" y="2900135"/>
            <a:ext cx="7209145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F3DD4-E43D-AEE8-118D-997DA562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C7DFFE-4A65-0B4B-F2C8-688F2B78CC67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E3A7F6-164F-95AE-353C-93DA54A0158E}"/>
              </a:ext>
            </a:extLst>
          </p:cNvPr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final de </a:t>
            </a:r>
            <a:r>
              <a:rPr lang="es-ES" sz="24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marts</a:t>
            </a:r>
            <a:r>
              <a:rPr lang="es-E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con conteos, montos e indicadores.</a:t>
            </a:r>
            <a:endParaRPr lang="en-US" sz="2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64750A6-E400-4017-7762-0BDCA2C17A15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2386951-FAF4-CDA3-8D53-F8D9F0CEEF16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0978AF9-89BC-3255-CFCC-E7B21AA8C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20674"/>
            <a:ext cx="11185224" cy="45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87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08A5C-DD9F-0637-F3DB-04164ABCF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C1FFE5-8B4E-6337-DDC1-77143D27C0F4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8E4624-E695-6C9B-AB25-F2E22928A8BC}"/>
              </a:ext>
            </a:extLst>
          </p:cNvPr>
          <p:cNvSpPr/>
          <p:nvPr/>
        </p:nvSpPr>
        <p:spPr>
          <a:xfrm>
            <a:off x="456908" y="1551579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r>
              <a:rPr lang="en-U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dimensiones</a:t>
            </a:r>
            <a:endParaRPr lang="en-US" sz="2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3A44BAB-222F-BC6E-0FC9-9164E1CD88ED}"/>
              </a:ext>
            </a:extLst>
          </p:cNvPr>
          <p:cNvSpPr/>
          <p:nvPr/>
        </p:nvSpPr>
        <p:spPr>
          <a:xfrm>
            <a:off x="9505188" y="34381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POLLO</a:t>
            </a:r>
            <a:endParaRPr lang="en-US" sz="9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913B634-2E64-3756-521C-661AAC66DA12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A32E02A8-CE3D-EB19-AA88-CC2EC0F3AD78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19AE79-D30D-0DB1-F3D0-CA91E83C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08" y="2228960"/>
            <a:ext cx="5943229" cy="94328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7EFB796-CA27-A9AF-1031-09730CFF9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457" y="461179"/>
            <a:ext cx="5258256" cy="575359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C0CDAA7D-C8E2-98E2-0D19-22D988E6CB89}"/>
              </a:ext>
            </a:extLst>
          </p:cNvPr>
          <p:cNvSpPr txBox="1"/>
          <p:nvPr/>
        </p:nvSpPr>
        <p:spPr>
          <a:xfrm>
            <a:off x="456908" y="3337979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Validación de tabla de hechos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D992A21-4DF8-94EA-7627-79F27F2B3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018740"/>
            <a:ext cx="6102221" cy="11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34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6ADC0-0E45-B9F3-26EC-88D37611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9994C2-A52D-55A3-3952-BF04DD93E83D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B92033-8748-7701-CB0B-1A36CBB2CE52}"/>
              </a:ext>
            </a:extLst>
          </p:cNvPr>
          <p:cNvSpPr/>
          <p:nvPr/>
        </p:nvSpPr>
        <p:spPr>
          <a:xfrm>
            <a:off x="502336" y="1287669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semántico y métricas BI</a:t>
            </a:r>
            <a:endParaRPr lang="en-US" sz="2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AB5592C-1D69-0B5A-B962-3A5D278915A9}"/>
              </a:ext>
            </a:extLst>
          </p:cNvPr>
          <p:cNvSpPr/>
          <p:nvPr/>
        </p:nvSpPr>
        <p:spPr>
          <a:xfrm>
            <a:off x="9505188" y="34381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POLLO</a:t>
            </a:r>
            <a:endParaRPr lang="en-US" sz="9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93D6D6B3-D0FC-5D65-2269-88365DA4699B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04FF292-5570-C9CF-EF75-626C3138D212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B61793-6446-C9EF-0060-F9C1FC9F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08" y="1825409"/>
            <a:ext cx="8397968" cy="131837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0061507-8F00-ADC7-A9C4-8961ED460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36" y="3528480"/>
            <a:ext cx="8359864" cy="1905165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7A4E79ED-D8D8-3F90-5527-AE1D06213952}"/>
              </a:ext>
            </a:extLst>
          </p:cNvPr>
          <p:cNvSpPr/>
          <p:nvPr/>
        </p:nvSpPr>
        <p:spPr>
          <a:xfrm>
            <a:off x="456908" y="3143783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 del modelo semántico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3210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C0746-1EDE-4EDA-AA4E-C02CC033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14BA4B-6C3F-8F72-974B-6944AA789B03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7AC218C-2EEE-4999-191D-BF44415F41E9}"/>
              </a:ext>
            </a:extLst>
          </p:cNvPr>
          <p:cNvSpPr/>
          <p:nvPr/>
        </p:nvSpPr>
        <p:spPr>
          <a:xfrm>
            <a:off x="9505188" y="34381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POLLO</a:t>
            </a:r>
            <a:endParaRPr lang="en-US" sz="9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C4542C8-B28B-EEFE-8806-4EB1DECDFD6C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4B9C809-FB3C-EEA2-6958-09971EC5C138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A6388E4-1F08-16FE-B496-D6E72AE92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85" y="588229"/>
            <a:ext cx="9722790" cy="5827846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FA64D197-775A-B2B0-C03C-DE5238C1640D}"/>
              </a:ext>
            </a:extLst>
          </p:cNvPr>
          <p:cNvSpPr/>
          <p:nvPr/>
        </p:nvSpPr>
        <p:spPr>
          <a:xfrm>
            <a:off x="411480" y="149189"/>
            <a:ext cx="9646920" cy="38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semántico en Power BI con relaciones de tipo estrella.</a:t>
            </a:r>
          </a:p>
        </p:txBody>
      </p:sp>
    </p:spTree>
    <p:extLst>
      <p:ext uri="{BB962C8B-B14F-4D97-AF65-F5344CB8AC3E}">
        <p14:creationId xmlns:p14="http://schemas.microsoft.com/office/powerpoint/2010/main" val="27792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94DD4-A12B-9EF8-9419-B29D6C01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CA1933-DFEA-C3DE-A287-8546924980AF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92F652-1886-1899-F440-811D935B1464}"/>
              </a:ext>
            </a:extLst>
          </p:cNvPr>
          <p:cNvSpPr/>
          <p:nvPr/>
        </p:nvSpPr>
        <p:spPr>
          <a:xfrm>
            <a:off x="502336" y="142037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Jerarquías OLAP creadas</a:t>
            </a:r>
            <a:endParaRPr lang="en-US" sz="24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C98B91E-CFFE-CF4C-765C-FDB6C94DA05D}"/>
              </a:ext>
            </a:extLst>
          </p:cNvPr>
          <p:cNvSpPr/>
          <p:nvPr/>
        </p:nvSpPr>
        <p:spPr>
          <a:xfrm>
            <a:off x="9505188" y="34381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POLLO</a:t>
            </a:r>
            <a:endParaRPr lang="en-US" sz="9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CD1FC451-7889-67F2-AE16-CDA629AB5654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76EFCE31-AF06-4BD6-F662-990083F35CBA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B93FC6-11BE-5674-C80A-F2008B72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30007"/>
            <a:ext cx="8405588" cy="1470787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4A1FC240-D100-A59E-09AD-950CF91FEEBC}"/>
              </a:ext>
            </a:extLst>
          </p:cNvPr>
          <p:cNvSpPr/>
          <p:nvPr/>
        </p:nvSpPr>
        <p:spPr>
          <a:xfrm>
            <a:off x="456908" y="19550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Medidas DAX implementadas</a:t>
            </a:r>
            <a:endParaRPr lang="en-US" sz="2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0360E96-934A-E774-B6D2-566F69B299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499"/>
          <a:stretch>
            <a:fillRect/>
          </a:stretch>
        </p:blipFill>
        <p:spPr>
          <a:xfrm>
            <a:off x="411480" y="2388764"/>
            <a:ext cx="8009314" cy="289476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A90D86-0305-8B97-6780-4FBCC6ABF6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270" b="423"/>
          <a:stretch>
            <a:fillRect/>
          </a:stretch>
        </p:blipFill>
        <p:spPr>
          <a:xfrm>
            <a:off x="411480" y="5417699"/>
            <a:ext cx="8009314" cy="66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12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38C50-3123-912F-57AE-BA13A35F9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6FCD85-80BD-6550-631B-6550672D18D4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13D83CD-8141-D568-AEEB-200653A9952D}"/>
              </a:ext>
            </a:extLst>
          </p:cNvPr>
          <p:cNvSpPr/>
          <p:nvPr/>
        </p:nvSpPr>
        <p:spPr>
          <a:xfrm>
            <a:off x="9505188" y="34381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POLLO</a:t>
            </a:r>
            <a:endParaRPr lang="en-US" sz="95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235C652-D534-EC47-5E2D-84A8EF260B0E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16E1E317-550A-5DA4-FF59-4EFB25858EE0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B9884CA-A413-EA6A-8426-8DB62FE8C4EA}"/>
              </a:ext>
            </a:extLst>
          </p:cNvPr>
          <p:cNvSpPr/>
          <p:nvPr/>
        </p:nvSpPr>
        <p:spPr>
          <a:xfrm>
            <a:off x="742884" y="1371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SQL vs Power BI</a:t>
            </a:r>
            <a:endParaRPr lang="en-U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C0D5BE-64E8-0384-2F9A-4AC8AE1BE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84" y="2188294"/>
            <a:ext cx="10907374" cy="266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77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1: Resumen Ejecutivo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para gerencia: ventas, margen, cobro y evolución.</a:t>
            </a:r>
            <a:endParaRPr lang="en-US" sz="950" dirty="0"/>
          </a:p>
        </p:txBody>
      </p:sp>
      <p:pic>
        <p:nvPicPr>
          <p:cNvPr id="5" name="Image 0" descr="/mnt/data/rico_bi_assets/crops/executive_dashboard.png"/>
          <p:cNvPicPr>
            <a:picLocks noChangeAspect="1"/>
          </p:cNvPicPr>
          <p:nvPr/>
        </p:nvPicPr>
        <p:blipFill>
          <a:blip r:embed="rId3"/>
          <a:srcRect l="1070" r="1070"/>
          <a:stretch/>
        </p:blipFill>
        <p:spPr>
          <a:xfrm>
            <a:off x="594360" y="1234440"/>
            <a:ext cx="745236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234440"/>
            <a:ext cx="745236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7" name="Image 1" descr="/mnt/data/a_bright_clean_food_photography_still_life_on_a_s.png"/>
          <p:cNvPicPr>
            <a:picLocks noChangeAspect="1"/>
          </p:cNvPicPr>
          <p:nvPr/>
        </p:nvPicPr>
        <p:blipFill>
          <a:blip r:embed="rId4"/>
          <a:srcRect t="4444" b="4444"/>
          <a:stretch/>
        </p:blipFill>
        <p:spPr>
          <a:xfrm>
            <a:off x="8366760" y="2382012"/>
            <a:ext cx="2743200" cy="1874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66760" y="2382012"/>
            <a:ext cx="2743200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6"/>
          <p:cNvSpPr/>
          <p:nvPr/>
        </p:nvSpPr>
        <p:spPr>
          <a:xfrm>
            <a:off x="8458200" y="4709160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7"/>
          <p:cNvSpPr/>
          <p:nvPr/>
        </p:nvSpPr>
        <p:spPr>
          <a:xfrm>
            <a:off x="8549640" y="477316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1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+ margen + cobranza</a:t>
            </a:r>
            <a:endParaRPr lang="en-US" sz="880" dirty="0"/>
          </a:p>
        </p:txBody>
      </p:sp>
      <p:sp>
        <p:nvSpPr>
          <p:cNvPr id="12" name="Text 8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2: Productos y rentabilidad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pasar de “qué se vende” a “qué conviene vender”.</a:t>
            </a:r>
            <a:endParaRPr lang="en-US" sz="950" dirty="0"/>
          </a:p>
        </p:txBody>
      </p:sp>
      <p:pic>
        <p:nvPicPr>
          <p:cNvPr id="7" name="Image 1" descr="/mnt/data/a_bright_clean_high_resolution_food_photography.png"/>
          <p:cNvPicPr>
            <a:picLocks noChangeAspect="1"/>
          </p:cNvPicPr>
          <p:nvPr/>
        </p:nvPicPr>
        <p:blipFill>
          <a:blip r:embed="rId3"/>
          <a:srcRect t="1667" b="1667"/>
          <a:stretch/>
        </p:blipFill>
        <p:spPr>
          <a:xfrm>
            <a:off x="7383780" y="2340864"/>
            <a:ext cx="1828800" cy="1325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83780" y="2340864"/>
            <a:ext cx="1828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5"/>
          <p:cNvSpPr/>
          <p:nvPr/>
        </p:nvSpPr>
        <p:spPr>
          <a:xfrm>
            <a:off x="7383780" y="3355848"/>
            <a:ext cx="1828800" cy="310896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6"/>
          <p:cNvSpPr/>
          <p:nvPr/>
        </p:nvSpPr>
        <p:spPr>
          <a:xfrm>
            <a:off x="7429500" y="34381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CERDO</a:t>
            </a:r>
            <a:endParaRPr lang="en-US" sz="950" dirty="0"/>
          </a:p>
        </p:txBody>
      </p:sp>
      <p:pic>
        <p:nvPicPr>
          <p:cNvPr id="11" name="Image 2" descr="/mnt/data/a_bright_clean_food_photography_still_life_on_a_s.png"/>
          <p:cNvPicPr>
            <a:picLocks noChangeAspect="1"/>
          </p:cNvPicPr>
          <p:nvPr/>
        </p:nvPicPr>
        <p:blipFill>
          <a:blip r:embed="rId4"/>
          <a:srcRect t="1667" b="1667"/>
          <a:stretch/>
        </p:blipFill>
        <p:spPr>
          <a:xfrm>
            <a:off x="9459468" y="2340864"/>
            <a:ext cx="1828800" cy="13258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459468" y="2340864"/>
            <a:ext cx="1828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8"/>
          <p:cNvSpPr/>
          <p:nvPr/>
        </p:nvSpPr>
        <p:spPr>
          <a:xfrm>
            <a:off x="9459468" y="3355848"/>
            <a:ext cx="1828800" cy="310896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9"/>
          <p:cNvSpPr/>
          <p:nvPr/>
        </p:nvSpPr>
        <p:spPr>
          <a:xfrm>
            <a:off x="9505188" y="3438144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POLLO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635240" y="4251960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2"/>
          <p:cNvSpPr/>
          <p:nvPr/>
        </p:nvSpPr>
        <p:spPr>
          <a:xfrm>
            <a:off x="7726680" y="4315968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Rentabilidad visible</a:t>
            </a:r>
            <a:endParaRPr lang="en-US" sz="880" dirty="0"/>
          </a:p>
        </p:txBody>
      </p:sp>
      <p:sp>
        <p:nvSpPr>
          <p:cNvPr id="18" name="Text 13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9" name="Text 14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D34A9E56-0248-4EEA-6101-83D0D8DDE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10" y="1408176"/>
            <a:ext cx="6725582" cy="3668499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3: Clientes y vendedores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tablero muestra quién compra, quién vende y dónde se concentra la fuerza comercial.</a:t>
            </a:r>
            <a:endParaRPr lang="en-US" sz="950" dirty="0"/>
          </a:p>
        </p:txBody>
      </p:sp>
      <p:pic>
        <p:nvPicPr>
          <p:cNvPr id="7" name="Image 1" descr="/mnt/data/a_high_resolution_studio_lit_food_still_life_on_a.png"/>
          <p:cNvPicPr>
            <a:picLocks noChangeAspect="1"/>
          </p:cNvPicPr>
          <p:nvPr/>
        </p:nvPicPr>
        <p:blipFill>
          <a:blip r:embed="rId3"/>
          <a:srcRect t="2381" b="2381"/>
          <a:stretch/>
        </p:blipFill>
        <p:spPr>
          <a:xfrm>
            <a:off x="8302752" y="1143000"/>
            <a:ext cx="2880360" cy="2057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302752" y="1143000"/>
            <a:ext cx="288036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6"/>
          <p:cNvSpPr/>
          <p:nvPr/>
        </p:nvSpPr>
        <p:spPr>
          <a:xfrm>
            <a:off x="8522208" y="3904488"/>
            <a:ext cx="2560320" cy="310896"/>
          </a:xfrm>
          <a:prstGeom prst="roundRect">
            <a:avLst>
              <a:gd name="adj" fmla="val 23529"/>
            </a:avLst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7"/>
          <p:cNvSpPr/>
          <p:nvPr/>
        </p:nvSpPr>
        <p:spPr>
          <a:xfrm>
            <a:off x="8613648" y="396849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01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comercial por vendedor</a:t>
            </a:r>
            <a:endParaRPr lang="en-US" sz="880" dirty="0"/>
          </a:p>
        </p:txBody>
      </p:sp>
      <p:sp>
        <p:nvSpPr>
          <p:cNvPr id="12" name="Text 8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655F2E4-9424-BA01-4E5E-6EC45B369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08176"/>
            <a:ext cx="7411427" cy="3335524"/>
          </a:xfrm>
          <a:prstGeom prst="rect">
            <a:avLst/>
          </a:prstGeom>
          <a:ln w="38100" cap="sq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4: Cobranza y evolución temporal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venta no termina al facturar: también hay que cobrar y anticipar mora.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403336" y="152704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A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S/ 583.67 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439912" y="185623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 pagado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8403336" y="280720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9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S/ 22.16 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39912" y="313639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Saldo pendiente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8403336" y="40873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12.27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439912" y="441655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DSO promedio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5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09544FA-6546-85E1-11AA-CA5489009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73" y="1152144"/>
            <a:ext cx="9422427" cy="5156560"/>
          </a:xfrm>
          <a:prstGeom prst="rect">
            <a:avLst/>
          </a:prstGeom>
          <a:ln w="127000" cap="sq">
            <a:solidFill>
              <a:schemeClr val="accent4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Comparativo U3: el tablero que convence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nueva página compara el periodo actual contra año anterior y mes anterior.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9AD6B76E-F953-061B-1BA1-DC32D0DD5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156" y="1436993"/>
            <a:ext cx="9040487" cy="4715533"/>
          </a:xfrm>
          <a:prstGeom prst="rect">
            <a:avLst/>
          </a:prstGeom>
          <a:ln w="127000" cap="sq">
            <a:solidFill>
              <a:schemeClr val="accent4">
                <a:lumMod val="60000"/>
                <a:lumOff val="4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</a:t>
            </a:r>
            <a:r>
              <a:rPr lang="en-US" sz="2400" b="1" dirty="0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y </a:t>
            </a:r>
            <a:r>
              <a:rPr lang="en-US" sz="2400" b="1" dirty="0" err="1">
                <a:solidFill>
                  <a:srgbClr val="0634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recomendación</a:t>
            </a:r>
            <a:endParaRPr lang="en-US" sz="2400" dirty="0"/>
          </a:p>
        </p:txBody>
      </p:sp>
      <p:pic>
        <p:nvPicPr>
          <p:cNvPr id="5" name="Image 0" descr="/mnt/data/a_bright_clean_food_photography_still_life_on_a_s.png"/>
          <p:cNvPicPr>
            <a:picLocks noChangeAspect="1"/>
          </p:cNvPicPr>
          <p:nvPr/>
        </p:nvPicPr>
        <p:blipFill>
          <a:blip r:embed="rId3"/>
          <a:srcRect t="4167" b="4167"/>
          <a:stretch/>
        </p:blipFill>
        <p:spPr>
          <a:xfrm>
            <a:off x="515112" y="768059"/>
            <a:ext cx="2582949" cy="1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5112" y="2297779"/>
            <a:ext cx="2582949" cy="246057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560832" y="2341935"/>
            <a:ext cx="2502232" cy="10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POLLO: proteger volumen</a:t>
            </a:r>
            <a:endParaRPr lang="en-US" sz="950" dirty="0"/>
          </a:p>
        </p:txBody>
      </p:sp>
      <p:pic>
        <p:nvPicPr>
          <p:cNvPr id="9" name="Image 1" descr="/mnt/data/a_high_resolution_studio_lit_food_still_life_on_a.png"/>
          <p:cNvPicPr>
            <a:picLocks noChangeAspect="1"/>
          </p:cNvPicPr>
          <p:nvPr/>
        </p:nvPicPr>
        <p:blipFill>
          <a:blip r:embed="rId4"/>
          <a:srcRect t="4167" b="4167"/>
          <a:stretch/>
        </p:blipFill>
        <p:spPr>
          <a:xfrm>
            <a:off x="515112" y="2697018"/>
            <a:ext cx="2582949" cy="177577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5112" y="4230292"/>
            <a:ext cx="2582949" cy="242503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8"/>
          <p:cNvSpPr/>
          <p:nvPr/>
        </p:nvSpPr>
        <p:spPr>
          <a:xfrm>
            <a:off x="560832" y="4272357"/>
            <a:ext cx="2502232" cy="99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EMBUTIDOS: revisar caída</a:t>
            </a:r>
            <a:endParaRPr lang="en-US" sz="950" dirty="0"/>
          </a:p>
        </p:txBody>
      </p:sp>
      <p:pic>
        <p:nvPicPr>
          <p:cNvPr id="13" name="Image 2" descr="/mnt/data/a_bright_clean_high_resolution_food_photography.png"/>
          <p:cNvPicPr>
            <a:picLocks noChangeAspect="1"/>
          </p:cNvPicPr>
          <p:nvPr/>
        </p:nvPicPr>
        <p:blipFill>
          <a:blip r:embed="rId5"/>
          <a:srcRect t="4167" b="4167"/>
          <a:stretch/>
        </p:blipFill>
        <p:spPr>
          <a:xfrm>
            <a:off x="515112" y="4536484"/>
            <a:ext cx="2582949" cy="177577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5113" y="6053254"/>
            <a:ext cx="2582948" cy="259006"/>
          </a:xfrm>
          <a:prstGeom prst="rect">
            <a:avLst/>
          </a:prstGeom>
          <a:solidFill>
            <a:srgbClr val="06345E">
              <a:alpha val="93000"/>
            </a:srgbClr>
          </a:solidFill>
          <a:ln w="12700">
            <a:solidFill>
              <a:srgbClr val="0634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1"/>
          <p:cNvSpPr/>
          <p:nvPr/>
        </p:nvSpPr>
        <p:spPr>
          <a:xfrm>
            <a:off x="560832" y="6105027"/>
            <a:ext cx="2448939" cy="106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CERDO: reforzar crecimiento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412835" y="1041493"/>
            <a:ext cx="3246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3"/>
          <p:cNvSpPr/>
          <p:nvPr/>
        </p:nvSpPr>
        <p:spPr>
          <a:xfrm>
            <a:off x="3549995" y="1206085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57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POLLO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3595715" y="1535269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Sostiene la facturación, pero cae en YoY. Priorizar clientes y vendedores clave.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412835" y="2963364"/>
            <a:ext cx="3246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6"/>
          <p:cNvSpPr/>
          <p:nvPr/>
        </p:nvSpPr>
        <p:spPr>
          <a:xfrm>
            <a:off x="3549995" y="312795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539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EMBUTIDOS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3595715" y="34571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Caída interanual relevante. Revisar precio, promociones, rotación y abastecimiento.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412835" y="4828431"/>
            <a:ext cx="3246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14A4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19"/>
          <p:cNvSpPr/>
          <p:nvPr/>
        </p:nvSpPr>
        <p:spPr>
          <a:xfrm>
            <a:off x="3549995" y="4993023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A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CERDO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3595715" y="5322207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Crecimiento positivo. Puede compensar parcialmente la caída de otras categorías.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0057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65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2F4FA83-4F80-F3FD-0E2B-6378DDBFA664}"/>
              </a:ext>
            </a:extLst>
          </p:cNvPr>
          <p:cNvSpPr/>
          <p:nvPr/>
        </p:nvSpPr>
        <p:spPr>
          <a:xfrm>
            <a:off x="7516601" y="843053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C8D9FDE-1F35-C2C8-10AB-FD07BA5B642A}"/>
              </a:ext>
            </a:extLst>
          </p:cNvPr>
          <p:cNvSpPr/>
          <p:nvPr/>
        </p:nvSpPr>
        <p:spPr>
          <a:xfrm>
            <a:off x="7681193" y="1044221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7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Proteger POLLO</a:t>
            </a:r>
            <a:endParaRPr lang="en-US" sz="17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656C4745-3AF3-675A-3B5E-DCAB2CE570DA}"/>
              </a:ext>
            </a:extLst>
          </p:cNvPr>
          <p:cNvSpPr/>
          <p:nvPr/>
        </p:nvSpPr>
        <p:spPr>
          <a:xfrm>
            <a:off x="7745201" y="1437413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a clientes principales y vendedores clave para cuidar el volumen.</a:t>
            </a:r>
            <a:endParaRPr lang="en-US" sz="105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20522C40-8FED-015D-D617-FFE0A95DCA9F}"/>
              </a:ext>
            </a:extLst>
          </p:cNvPr>
          <p:cNvSpPr/>
          <p:nvPr/>
        </p:nvSpPr>
        <p:spPr>
          <a:xfrm>
            <a:off x="7516601" y="2751741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8981C80A-9835-B038-5DE3-7A8DD8514D37}"/>
              </a:ext>
            </a:extLst>
          </p:cNvPr>
          <p:cNvSpPr/>
          <p:nvPr/>
        </p:nvSpPr>
        <p:spPr>
          <a:xfrm>
            <a:off x="7681193" y="2952909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39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Corregir EMBUTIDOS</a:t>
            </a:r>
            <a:endParaRPr lang="en-US" sz="17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44E40E42-CD4F-CE65-81F8-6DC4CDFBADBE}"/>
              </a:ext>
            </a:extLst>
          </p:cNvPr>
          <p:cNvSpPr/>
          <p:nvPr/>
        </p:nvSpPr>
        <p:spPr>
          <a:xfrm>
            <a:off x="7745201" y="3346101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precio, promociones, rotación y abastecimiento por caída YoY.</a:t>
            </a:r>
            <a:endParaRPr lang="en-US" sz="1050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86B3F946-7369-4D1F-BD96-F85E11EDF21B}"/>
              </a:ext>
            </a:extLst>
          </p:cNvPr>
          <p:cNvSpPr/>
          <p:nvPr/>
        </p:nvSpPr>
        <p:spPr>
          <a:xfrm>
            <a:off x="7516601" y="4620487"/>
            <a:ext cx="31546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4A44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EDFC6108-BCFA-8F46-A70B-3DBDA908D92A}"/>
              </a:ext>
            </a:extLst>
          </p:cNvPr>
          <p:cNvSpPr/>
          <p:nvPr/>
        </p:nvSpPr>
        <p:spPr>
          <a:xfrm>
            <a:off x="7681193" y="4821655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A4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Impulsar CERDO</a:t>
            </a:r>
            <a:endParaRPr lang="en-US" sz="170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1E9F1E51-3104-B49D-3D66-C18736B85AB1}"/>
              </a:ext>
            </a:extLst>
          </p:cNvPr>
          <p:cNvSpPr/>
          <p:nvPr/>
        </p:nvSpPr>
        <p:spPr>
          <a:xfrm>
            <a:off x="7745201" y="5214847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063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Reforzar la estrategia porque muestra crecimiento positivo.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88E6A-73E4-2119-C6AB-310785C0F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144EBB-506C-FCE2-5E21-D036CC83F133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D200"/>
          </a:solidFill>
          <a:ln w="12700">
            <a:solidFill>
              <a:srgbClr val="FFD2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2AAF8F-6708-4243-9EDD-5ADA69AE16D4}"/>
              </a:ext>
            </a:extLst>
          </p:cNvPr>
          <p:cNvSpPr/>
          <p:nvPr/>
        </p:nvSpPr>
        <p:spPr>
          <a:xfrm>
            <a:off x="1177174" y="3550089"/>
            <a:ext cx="4124499" cy="235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5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7654C74-D3AC-E671-4BBD-D9C08BE24DC8}"/>
              </a:ext>
            </a:extLst>
          </p:cNvPr>
          <p:cNvSpPr/>
          <p:nvPr/>
        </p:nvSpPr>
        <p:spPr>
          <a:xfrm>
            <a:off x="41148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D9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Rico BI | Pitch comercial</a:t>
            </a:r>
            <a:endParaRPr lang="en-US" sz="6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BEAFB0B-35D4-D19A-5A0C-E48E078D670B}"/>
              </a:ext>
            </a:extLst>
          </p:cNvPr>
          <p:cNvSpPr/>
          <p:nvPr/>
        </p:nvSpPr>
        <p:spPr>
          <a:xfrm>
            <a:off x="1129284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FFD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11972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913</Words>
  <Application>Microsoft Office PowerPoint</Application>
  <PresentationFormat>Panorámica</PresentationFormat>
  <Paragraphs>214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Corporacion Rico S.A.C.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Rico BI - Pitch Comercial Colorido</dc:title>
  <dc:subject>Pitch comercial Rico BI</dc:subject>
  <dc:creator>Human IA</dc:creator>
  <cp:lastModifiedBy>Julmer QA</cp:lastModifiedBy>
  <cp:revision>6</cp:revision>
  <dcterms:created xsi:type="dcterms:W3CDTF">2026-06-29T23:09:58Z</dcterms:created>
  <dcterms:modified xsi:type="dcterms:W3CDTF">2026-06-30T13:28:56Z</dcterms:modified>
</cp:coreProperties>
</file>